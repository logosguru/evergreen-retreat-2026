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 / 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3840480" cy="3840480"/>
          </a:xfrm>
          <a:prstGeom prst="ellipse">
            <a:avLst/>
          </a:prstGeom>
          <a:solidFill>
            <a:srgbClr val="F6F1E7"/>
          </a:solidFill>
          <a:ln w="12700">
            <a:solidFill>
              <a:srgbClr val="F6F1E7"/>
            </a:solidFill>
            <a:prstDash val="solid"/>
          </a:ln>
        </p:spPr>
      </p:sp>
      <p:pic>
        <p:nvPicPr>
          <p:cNvPr id="8" name="Image 0" descr="/Users/logosguru/Code/retreat2026/public/retreat-emblem-2026.png">    </p:cNvPr>
          <p:cNvPicPr>
            <a:picLocks noChangeAspect="1"/>
          </p:cNvPicPr>
          <p:nvPr/>
        </p:nvPicPr>
        <p:blipFill>
          <a:blip r:embed="rId1"/>
          <a:srcRect l="-86" r="-86" t="0" b="0"/>
          <a:stretch/>
        </p:blipFill>
        <p:spPr>
          <a:xfrm>
            <a:off x="1325880" y="1874520"/>
            <a:ext cx="2834640" cy="2971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0" y="1463040"/>
            <a:ext cx="6339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GAME 02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303520" y="1874520"/>
            <a:ext cx="6339535" cy="10081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Group Up! 복된 만남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5303520" y="2930652"/>
            <a:ext cx="6339535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Group Up! Blessed Encounter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303520" y="3602736"/>
            <a:ext cx="6339535" cy="6240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¡Agrúpense! Encuentro Bendito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303520" y="4663440"/>
            <a:ext cx="633953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음악이 멈추면 — 조건에 맞는 그룹을 가장 빨리 만드세요!</a:t>
            </a:r>
            <a:endParaRPr lang="en-US" sz="1800" dirty="0"/>
          </a:p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When the music stops, build the right group — fast!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Cuando pare la música, ¡formen el grupo correcto — rápido!</a:t>
            </a:r>
            <a:endParaRPr lang="en-US" sz="1800" dirty="0"/>
          </a:p>
        </p:txBody>
      </p:sp>
      <p:pic>
        <p:nvPicPr>
          <p:cNvPr id="14" name="Image 1" descr="/Users/logosguru/Code/retreat2026/out/icebreaker/evergreen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375" y="6309360"/>
            <a:ext cx="2011680" cy="4734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HOW IT WORKS · 방식 · CÓMO FUNCIONA</a:t>
            </a:r>
            <a:endParaRPr lang="en-US" sz="1800" dirty="0"/>
          </a:p>
        </p:txBody>
      </p:sp>
      <p:pic>
        <p:nvPicPr>
          <p:cNvPr id="8" name="Image 0" descr="/Users/logosguru/Code/retreat2026/scripts/icebreaker/assets/emoji-n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637" y="1508760"/>
            <a:ext cx="1280160" cy="1280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88036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MOVE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3657600"/>
            <a:ext cx="26021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음악 — 미션 하며 섞이기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Música — misión y mezcla</a:t>
            </a:r>
            <a:endParaRPr lang="en-US" sz="1600" dirty="0"/>
          </a:p>
        </p:txBody>
      </p:sp>
      <p:pic>
        <p:nvPicPr>
          <p:cNvPr id="11" name="Image 1" descr="/Users/logosguru/Code/retreat2026/scripts/icebreaker/assets/emoji-s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391" y="1508760"/>
            <a:ext cx="1280160" cy="1280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9394" y="288036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STOP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3379394" y="3657600"/>
            <a:ext cx="26021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음악 멈춤 — 조건 발표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Alto — se anuncia la condición</a:t>
            </a:r>
            <a:endParaRPr lang="en-US" sz="1600" dirty="0"/>
          </a:p>
        </p:txBody>
      </p:sp>
      <p:pic>
        <p:nvPicPr>
          <p:cNvPr id="14" name="Image 2" descr="/Users/logosguru/Code/retreat2026/scripts/icebreaker/assets/emoji-gro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145" y="1508760"/>
            <a:ext cx="1280160" cy="12801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0148" y="288036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GROUP</a:t>
            </a:r>
            <a:endParaRPr lang="en-US" sz="3400" dirty="0"/>
          </a:p>
        </p:txBody>
      </p:sp>
      <p:sp>
        <p:nvSpPr>
          <p:cNvPr id="16" name="Text 11"/>
          <p:cNvSpPr/>
          <p:nvPr/>
        </p:nvSpPr>
        <p:spPr>
          <a:xfrm>
            <a:off x="6210148" y="3657600"/>
            <a:ext cx="26021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인원 맞춰 모여 앉고 손 들기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Júntense, siéntense, mano arriba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040901" y="1325880"/>
            <a:ext cx="2602154" cy="3246120"/>
          </a:xfrm>
          <a:prstGeom prst="roundRect">
            <a:avLst>
              <a:gd name="adj" fmla="val 5271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8" name="Image 3" descr="/Users/logosguru/Code/retreat2026/scripts/icebreaker/assets/emoji-ti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898" y="1508760"/>
            <a:ext cx="1280160" cy="12801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40901" y="288036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TICKET</a:t>
            </a:r>
            <a:endParaRPr lang="en-US" sz="3400" dirty="0"/>
          </a:p>
        </p:txBody>
      </p:sp>
      <p:sp>
        <p:nvSpPr>
          <p:cNvPr id="20" name="Text 14"/>
          <p:cNvSpPr/>
          <p:nvPr/>
        </p:nvSpPr>
        <p:spPr>
          <a:xfrm>
            <a:off x="9040901" y="3657600"/>
            <a:ext cx="26021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준비위원 확인 → 티켓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 staff verifica → boleto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48640" y="4937760"/>
            <a:ext cx="1109441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티켓 받은 그룹만 다음 라운드로! 티켓 수는 MC가 라운드마다 발표합니다.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Only groups with a ticket move on. The MC announces how many tickets each round.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Solo los grupos con boleto siguen. El MC anuncia cuántos boletos hay en cada ronda.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RULES · 규칙 · REGLAS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1234440"/>
            <a:ext cx="1004285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뛰지 않습니다 — 빠르게, 그러나 안전하게.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running — move quickly but safely.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corran — muévanse rápido pero con cuidado.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2834640"/>
            <a:ext cx="1004285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추측 금지! 직접 물어보세요 — "어느 기관이세요?"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Don’t guess — ASK: “Which ministry?” “What language?”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adivinen — PREGUNTEN: «¿Qué ministerio?» «¿Qué idioma?»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00200" y="4434840"/>
            <a:ext cx="1004285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티켓이 모자라면 — 그룹 대표끼리 가위바위보!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 enough tickets? Group reps play Rock-Paper-Scissors!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¿Faltan boletos? ¡Los representantes juegan piedra, papel o tijera!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PRACTICE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2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13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명씩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 group · por grupo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188720"/>
            <a:ext cx="8031175" cy="816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74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연습 라운드</a:t>
            </a:r>
            <a:endParaRPr lang="en-US" sz="3740" dirty="0"/>
          </a:p>
        </p:txBody>
      </p:sp>
      <p:sp>
        <p:nvSpPr>
          <p:cNvPr id="12" name="Text 10"/>
          <p:cNvSpPr/>
          <p:nvPr/>
        </p:nvSpPr>
        <p:spPr>
          <a:xfrm>
            <a:off x="3611880" y="2043684"/>
            <a:ext cx="8031175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2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Practice Round</a:t>
            </a:r>
            <a:endParaRPr lang="en-US" sz="2720" dirty="0"/>
          </a:p>
        </p:txBody>
      </p:sp>
      <p:sp>
        <p:nvSpPr>
          <p:cNvPr id="13" name="Text 11"/>
          <p:cNvSpPr/>
          <p:nvPr/>
        </p:nvSpPr>
        <p:spPr>
          <a:xfrm>
            <a:off x="3611880" y="2587752"/>
            <a:ext cx="8031175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8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Ronda de práctica</a:t>
            </a:r>
            <a:endParaRPr lang="en-US" sz="2380" dirty="0"/>
          </a:p>
        </p:txBody>
      </p:sp>
      <p:sp>
        <p:nvSpPr>
          <p:cNvPr id="14" name="Shape 12"/>
          <p:cNvSpPr/>
          <p:nvPr/>
        </p:nvSpPr>
        <p:spPr>
          <a:xfrm>
            <a:off x="3611880" y="331927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51960" y="3246120"/>
            <a:ext cx="7391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사용자와 영어 사용자가 모두 있어야 합니다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Korean AND English speakers in the group   ·   Hablantes de coreano Y de inglés en el grupo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3611880" y="423367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51960" y="4160520"/>
            <a:ext cx="7391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가족은 안 됩니다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family members together   ·   Sin familiares juntos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3611880" y="5120640"/>
            <a:ext cx="8031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연습이라 탈락 없음 · No elimination — just practice · Sin eliminación — solo práctica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11880" y="5532120"/>
            <a:ext cx="8031175" cy="640080"/>
          </a:xfrm>
          <a:prstGeom prst="roundRect">
            <a:avLst>
              <a:gd name="adj" fmla="val 14286"/>
            </a:avLst>
          </a:prstGeom>
          <a:solidFill>
            <a:srgbClr val="0E241D"/>
          </a:solidFill>
          <a:ln w="9525">
            <a:solidFill>
              <a:srgbClr val="DCC07F">
                <a:alpha val="60000"/>
              </a:srgbClr>
            </a:solidFill>
            <a:prstDash val="solid"/>
          </a:ln>
        </p:spPr>
      </p:sp>
      <p:pic>
        <p:nvPicPr>
          <p:cNvPr id="22" name="Image 0" descr="/Users/logosguru/Code/retreat2026/scripts/icebreaker/assets/emoji-n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687568"/>
            <a:ext cx="329184" cy="32918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160520" y="5532120"/>
            <a:ext cx="7391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걸으면서 지나가는 사람에게 손 흔들기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Wave at everyone you pass · Saluda con la mano a todos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2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</a:t>
            </a:r>
            <a:endParaRPr lang="en-US" sz="13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명씩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 group · por grupo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1" name="Image 0" descr="/Users/logosguru/Code/retreat2026/scripts/icebreaker/assets/emoji-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663440"/>
            <a:ext cx="777240" cy="777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4389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MC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48640" y="5303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티켓 수는 MC 발표 · tickets: MC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880" y="1188720"/>
            <a:ext cx="8031175" cy="816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74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첫 그룹</a:t>
            </a:r>
            <a:endParaRPr lang="en-US" sz="3740" dirty="0"/>
          </a:p>
        </p:txBody>
      </p:sp>
      <p:sp>
        <p:nvSpPr>
          <p:cNvPr id="16" name="Text 13"/>
          <p:cNvSpPr/>
          <p:nvPr/>
        </p:nvSpPr>
        <p:spPr>
          <a:xfrm>
            <a:off x="3611880" y="2043684"/>
            <a:ext cx="8031175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2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First Groups</a:t>
            </a:r>
            <a:endParaRPr lang="en-US" sz="2720" dirty="0"/>
          </a:p>
        </p:txBody>
      </p:sp>
      <p:sp>
        <p:nvSpPr>
          <p:cNvPr id="17" name="Text 14"/>
          <p:cNvSpPr/>
          <p:nvPr/>
        </p:nvSpPr>
        <p:spPr>
          <a:xfrm>
            <a:off x="3611880" y="2587752"/>
            <a:ext cx="8031175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8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Primeros grupos</a:t>
            </a:r>
            <a:endParaRPr lang="en-US" sz="2380" dirty="0"/>
          </a:p>
        </p:txBody>
      </p:sp>
      <p:sp>
        <p:nvSpPr>
          <p:cNvPr id="18" name="Shape 15"/>
          <p:cNvSpPr/>
          <p:nvPr/>
        </p:nvSpPr>
        <p:spPr>
          <a:xfrm>
            <a:off x="3611880" y="331927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1188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251960" y="3246120"/>
            <a:ext cx="7391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남성 2명 이상 + 여성 2명 이상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 least 2 men and 2 women   ·   Al menos 2 hombres y 2 mujeres</a:t>
            </a:r>
            <a:endParaRPr lang="en-US" sz="2300" dirty="0"/>
          </a:p>
        </p:txBody>
      </p:sp>
      <p:sp>
        <p:nvSpPr>
          <p:cNvPr id="21" name="Shape 18"/>
          <p:cNvSpPr/>
          <p:nvPr/>
        </p:nvSpPr>
        <p:spPr>
          <a:xfrm>
            <a:off x="3611880" y="423367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1188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251960" y="4160520"/>
            <a:ext cx="7391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사용자와 영어 사용자 모두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Korean AND English speakers   ·   Hablantes de coreano Y de inglés</a:t>
            </a:r>
            <a:endParaRPr lang="en-US" sz="2300" dirty="0"/>
          </a:p>
        </p:txBody>
      </p:sp>
      <p:sp>
        <p:nvSpPr>
          <p:cNvPr id="24" name="Shape 21"/>
          <p:cNvSpPr/>
          <p:nvPr/>
        </p:nvSpPr>
        <p:spPr>
          <a:xfrm>
            <a:off x="3611880" y="5532120"/>
            <a:ext cx="8031175" cy="640080"/>
          </a:xfrm>
          <a:prstGeom prst="roundRect">
            <a:avLst>
              <a:gd name="adj" fmla="val 14286"/>
            </a:avLst>
          </a:prstGeom>
          <a:solidFill>
            <a:srgbClr val="0E241D"/>
          </a:solidFill>
          <a:ln w="9525">
            <a:solidFill>
              <a:srgbClr val="DCC07F">
                <a:alpha val="60000"/>
              </a:srgbClr>
            </a:solidFill>
            <a:prstDash val="solid"/>
          </a:ln>
        </p:spPr>
      </p:sp>
      <p:pic>
        <p:nvPicPr>
          <p:cNvPr id="25" name="Image 1" descr="/Users/logosguru/Code/retreat2026/scripts/icebreaker/assets/emoji-n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5687568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160520" y="5532120"/>
            <a:ext cx="7391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보는 사람 3명과 하이파이브!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High-five 3 people you don’t know · ¡Choca los cinco con 3 desconocidos!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2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13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명씩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 group · por grupo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1" name="Image 0" descr="/Users/logosguru/Code/retreat2026/scripts/icebreaker/assets/emoji-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663440"/>
            <a:ext cx="777240" cy="777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4389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MC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48640" y="5303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티켓 수는 MC 발표 · tickets: MC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880" y="1188720"/>
            <a:ext cx="8031175" cy="816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74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청년을 찾아라!</a:t>
            </a:r>
            <a:endParaRPr lang="en-US" sz="3740" dirty="0"/>
          </a:p>
        </p:txBody>
      </p:sp>
      <p:sp>
        <p:nvSpPr>
          <p:cNvPr id="16" name="Text 13"/>
          <p:cNvSpPr/>
          <p:nvPr/>
        </p:nvSpPr>
        <p:spPr>
          <a:xfrm>
            <a:off x="3611880" y="2043684"/>
            <a:ext cx="8031175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2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Find a Young Adult!</a:t>
            </a:r>
            <a:endParaRPr lang="en-US" sz="2720" dirty="0"/>
          </a:p>
        </p:txBody>
      </p:sp>
      <p:sp>
        <p:nvSpPr>
          <p:cNvPr id="17" name="Text 14"/>
          <p:cNvSpPr/>
          <p:nvPr/>
        </p:nvSpPr>
        <p:spPr>
          <a:xfrm>
            <a:off x="3611880" y="2587752"/>
            <a:ext cx="8031175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8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¡Busca a un joven!</a:t>
            </a:r>
            <a:endParaRPr lang="en-US" sz="2380" dirty="0"/>
          </a:p>
        </p:txBody>
      </p:sp>
      <p:sp>
        <p:nvSpPr>
          <p:cNvPr id="18" name="Shape 15"/>
          <p:cNvSpPr/>
          <p:nvPr/>
        </p:nvSpPr>
        <p:spPr>
          <a:xfrm>
            <a:off x="3611880" y="331927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1188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251960" y="3246120"/>
            <a:ext cx="7391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미가엘 청년 정확히 1명 — 두 명이면 티켓 없음!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EXACTLY ONE Michael young adult (two = no ticket!)   ·   EXACTAMENTE UN joven de Michael</a:t>
            </a:r>
            <a:endParaRPr lang="en-US" sz="2300" dirty="0"/>
          </a:p>
        </p:txBody>
      </p:sp>
      <p:sp>
        <p:nvSpPr>
          <p:cNvPr id="21" name="Shape 18"/>
          <p:cNvSpPr/>
          <p:nvPr/>
        </p:nvSpPr>
        <p:spPr>
          <a:xfrm>
            <a:off x="3611880" y="5532120"/>
            <a:ext cx="8031175" cy="640080"/>
          </a:xfrm>
          <a:prstGeom prst="roundRect">
            <a:avLst>
              <a:gd name="adj" fmla="val 14286"/>
            </a:avLst>
          </a:prstGeom>
          <a:solidFill>
            <a:srgbClr val="0E241D"/>
          </a:solidFill>
          <a:ln w="9525">
            <a:solidFill>
              <a:srgbClr val="DCC07F">
                <a:alpha val="60000"/>
              </a:srgbClr>
            </a:solidFill>
            <a:prstDash val="solid"/>
          </a:ln>
        </p:spPr>
      </p:sp>
      <p:pic>
        <p:nvPicPr>
          <p:cNvPr id="22" name="Image 1" descr="/Users/logosguru/Code/retreat2026/scripts/icebreaker/assets/emoji-n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5687568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160520" y="5532120"/>
            <a:ext cx="7391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언어로 인사하기 — 안녕하세요 · Hello · ¡Hola!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Greet in another language · Saluda en otro idioma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2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</a:t>
            </a:r>
            <a:endParaRPr lang="en-US" sz="13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명씩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 group · por grupo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1" name="Image 0" descr="/Users/logosguru/Code/retreat2026/scripts/icebreaker/assets/emoji-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663440"/>
            <a:ext cx="777240" cy="777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4389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MC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48640" y="5303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티켓 수는 MC 발표 · tickets: MC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880" y="1188720"/>
            <a:ext cx="8031175" cy="816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74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마하나임을 찾아라!</a:t>
            </a:r>
            <a:endParaRPr lang="en-US" sz="3740" dirty="0"/>
          </a:p>
        </p:txBody>
      </p:sp>
      <p:sp>
        <p:nvSpPr>
          <p:cNvPr id="16" name="Text 13"/>
          <p:cNvSpPr/>
          <p:nvPr/>
        </p:nvSpPr>
        <p:spPr>
          <a:xfrm>
            <a:off x="3611880" y="2043684"/>
            <a:ext cx="8031175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2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Find Mahanaim!</a:t>
            </a:r>
            <a:endParaRPr lang="en-US" sz="2720" dirty="0"/>
          </a:p>
        </p:txBody>
      </p:sp>
      <p:sp>
        <p:nvSpPr>
          <p:cNvPr id="17" name="Text 14"/>
          <p:cNvSpPr/>
          <p:nvPr/>
        </p:nvSpPr>
        <p:spPr>
          <a:xfrm>
            <a:off x="3611880" y="2587752"/>
            <a:ext cx="8031175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8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¡Busca a Mahanaim!</a:t>
            </a:r>
            <a:endParaRPr lang="en-US" sz="2380" dirty="0"/>
          </a:p>
        </p:txBody>
      </p:sp>
      <p:sp>
        <p:nvSpPr>
          <p:cNvPr id="18" name="Shape 15"/>
          <p:cNvSpPr/>
          <p:nvPr/>
        </p:nvSpPr>
        <p:spPr>
          <a:xfrm>
            <a:off x="3611880" y="331927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1188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251960" y="3246120"/>
            <a:ext cx="7391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마하나임 정확히 1명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EXACTLY ONE Mahanaim member   ·   EXACTAMENTE UN miembro de Mahanaim</a:t>
            </a:r>
            <a:endParaRPr lang="en-US" sz="2300" dirty="0"/>
          </a:p>
        </p:txBody>
      </p:sp>
      <p:sp>
        <p:nvSpPr>
          <p:cNvPr id="21" name="Shape 18"/>
          <p:cNvSpPr/>
          <p:nvPr/>
        </p:nvSpPr>
        <p:spPr>
          <a:xfrm>
            <a:off x="3611880" y="5532120"/>
            <a:ext cx="8031175" cy="640080"/>
          </a:xfrm>
          <a:prstGeom prst="roundRect">
            <a:avLst>
              <a:gd name="adj" fmla="val 14286"/>
            </a:avLst>
          </a:prstGeom>
          <a:solidFill>
            <a:srgbClr val="0E241D"/>
          </a:solidFill>
          <a:ln w="9525">
            <a:solidFill>
              <a:srgbClr val="DCC07F">
                <a:alpha val="60000"/>
              </a:srgbClr>
            </a:solidFill>
            <a:prstDash val="solid"/>
          </a:ln>
        </p:spPr>
      </p:sp>
      <p:pic>
        <p:nvPicPr>
          <p:cNvPr id="22" name="Image 1" descr="/Users/logosguru/Code/retreat2026/scripts/icebreaker/assets/emoji-n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5687568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160520" y="5532120"/>
            <a:ext cx="7391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악수하면서 이름 하나 새로 외우기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Shake hands and learn one new name · Da la mano y aprende un nombre nuevo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2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</a:t>
            </a:r>
            <a:endParaRPr lang="en-US" sz="13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명씩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 group · por grupo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1" name="Image 0" descr="/Users/logosguru/Code/retreat2026/scripts/icebreaker/assets/emoji-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663440"/>
            <a:ext cx="777240" cy="777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4389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MC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48640" y="5303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티켓 수는 MC 발표 · tickets: MC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880" y="1188720"/>
            <a:ext cx="8031175" cy="816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74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권사님을 모셔라!</a:t>
            </a:r>
            <a:endParaRPr lang="en-US" sz="3740" dirty="0"/>
          </a:p>
        </p:txBody>
      </p:sp>
      <p:sp>
        <p:nvSpPr>
          <p:cNvPr id="16" name="Text 13"/>
          <p:cNvSpPr/>
          <p:nvPr/>
        </p:nvSpPr>
        <p:spPr>
          <a:xfrm>
            <a:off x="3611880" y="2043684"/>
            <a:ext cx="8031175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2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Bring a Kwonsa!</a:t>
            </a:r>
            <a:endParaRPr lang="en-US" sz="2720" dirty="0"/>
          </a:p>
        </p:txBody>
      </p:sp>
      <p:sp>
        <p:nvSpPr>
          <p:cNvPr id="17" name="Text 14"/>
          <p:cNvSpPr/>
          <p:nvPr/>
        </p:nvSpPr>
        <p:spPr>
          <a:xfrm>
            <a:off x="3611880" y="2587752"/>
            <a:ext cx="8031175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8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¡Trae a una Kwonsa!</a:t>
            </a:r>
            <a:endParaRPr lang="en-US" sz="2380" dirty="0"/>
          </a:p>
        </p:txBody>
      </p:sp>
      <p:sp>
        <p:nvSpPr>
          <p:cNvPr id="18" name="Shape 15"/>
          <p:cNvSpPr/>
          <p:nvPr/>
        </p:nvSpPr>
        <p:spPr>
          <a:xfrm>
            <a:off x="3611880" y="331927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1188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251960" y="3246120"/>
            <a:ext cx="7391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권사님 정확히 1명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EXACTLY ONE Kwonsa (senior deaconess)   ·   EXACTAMENTE UNA Kwonsa (diaconisa mayor)</a:t>
            </a:r>
            <a:endParaRPr lang="en-US" sz="2300" dirty="0"/>
          </a:p>
        </p:txBody>
      </p:sp>
      <p:sp>
        <p:nvSpPr>
          <p:cNvPr id="21" name="Shape 18"/>
          <p:cNvSpPr/>
          <p:nvPr/>
        </p:nvSpPr>
        <p:spPr>
          <a:xfrm>
            <a:off x="3611880" y="423367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1188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251960" y="4160520"/>
            <a:ext cx="7391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기드온 1명 이상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 least ONE Gideon student   ·   Al menos UN estudiante de Gedeón</a:t>
            </a:r>
            <a:endParaRPr lang="en-US" sz="2300" dirty="0"/>
          </a:p>
        </p:txBody>
      </p:sp>
      <p:sp>
        <p:nvSpPr>
          <p:cNvPr id="24" name="Shape 21"/>
          <p:cNvSpPr/>
          <p:nvPr/>
        </p:nvSpPr>
        <p:spPr>
          <a:xfrm>
            <a:off x="3611880" y="5532120"/>
            <a:ext cx="8031175" cy="640080"/>
          </a:xfrm>
          <a:prstGeom prst="roundRect">
            <a:avLst>
              <a:gd name="adj" fmla="val 14286"/>
            </a:avLst>
          </a:prstGeom>
          <a:solidFill>
            <a:srgbClr val="0E241D"/>
          </a:solidFill>
          <a:ln w="9525">
            <a:solidFill>
              <a:srgbClr val="DCC07F">
                <a:alpha val="60000"/>
              </a:srgbClr>
            </a:solidFill>
            <a:prstDash val="solid"/>
          </a:ln>
        </p:spPr>
      </p:sp>
      <p:pic>
        <p:nvPicPr>
          <p:cNvPr id="25" name="Image 1" descr="/Users/logosguru/Code/retreat2026/scripts/icebreaker/assets/emoji-n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5687568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160520" y="5532120"/>
            <a:ext cx="7391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박자에 맞춰 박수 치며 걷기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Clap to the beat as you walk · Aplaude al ritmo mientras caminas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9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2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</a:t>
            </a:r>
            <a:endParaRPr lang="en-US" sz="13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명씩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 group · por grupo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1" name="Image 0" descr="/Users/logosguru/Code/retreat2026/scripts/icebreaker/assets/emoji-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663440"/>
            <a:ext cx="777240" cy="777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4389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MC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48640" y="5303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티켓 수는 MC 발표 · tickets: MC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880" y="1188720"/>
            <a:ext cx="8031175" cy="816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74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세대와 언어</a:t>
            </a:r>
            <a:endParaRPr lang="en-US" sz="3740" dirty="0"/>
          </a:p>
        </p:txBody>
      </p:sp>
      <p:sp>
        <p:nvSpPr>
          <p:cNvPr id="16" name="Text 13"/>
          <p:cNvSpPr/>
          <p:nvPr/>
        </p:nvSpPr>
        <p:spPr>
          <a:xfrm>
            <a:off x="3611880" y="2043684"/>
            <a:ext cx="8031175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2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Generations &amp; Languages</a:t>
            </a:r>
            <a:endParaRPr lang="en-US" sz="2720" dirty="0"/>
          </a:p>
        </p:txBody>
      </p:sp>
      <p:sp>
        <p:nvSpPr>
          <p:cNvPr id="17" name="Text 14"/>
          <p:cNvSpPr/>
          <p:nvPr/>
        </p:nvSpPr>
        <p:spPr>
          <a:xfrm>
            <a:off x="3611880" y="2587752"/>
            <a:ext cx="8031175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8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Generaciones e idiomas</a:t>
            </a:r>
            <a:endParaRPr lang="en-US" sz="2380" dirty="0"/>
          </a:p>
        </p:txBody>
      </p:sp>
      <p:sp>
        <p:nvSpPr>
          <p:cNvPr id="18" name="Shape 15"/>
          <p:cNvSpPr/>
          <p:nvPr/>
        </p:nvSpPr>
        <p:spPr>
          <a:xfrm>
            <a:off x="3611880" y="331927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1188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251960" y="3246120"/>
            <a:ext cx="739109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정확히 1명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EXACTLY ONE student   ·   EXACTAMENTE UN estudiante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3611880" y="405079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1188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251960" y="3977640"/>
            <a:ext cx="739109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청년(미가엘·마하나임) 정확히 1명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EXACTLY ONE young adult (Michael / Mahanaim)   ·   EXACTAMENTE UN joven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3611880" y="478231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11880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251960" y="4709160"/>
            <a:ext cx="739109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스페인어 사용자 1명 이상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 least ONE Spanish speaker   ·   Al menos UN hispanohablante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3611880" y="5532120"/>
            <a:ext cx="8031175" cy="640080"/>
          </a:xfrm>
          <a:prstGeom prst="roundRect">
            <a:avLst>
              <a:gd name="adj" fmla="val 14286"/>
            </a:avLst>
          </a:prstGeom>
          <a:solidFill>
            <a:srgbClr val="0E241D"/>
          </a:solidFill>
          <a:ln w="9525">
            <a:solidFill>
              <a:srgbClr val="DCC07F">
                <a:alpha val="60000"/>
              </a:srgbClr>
            </a:solidFill>
            <a:prstDash val="solid"/>
          </a:ln>
        </p:spPr>
      </p:sp>
      <p:pic>
        <p:nvPicPr>
          <p:cNvPr id="28" name="Image 1" descr="/Users/logosguru/Code/retreat2026/scripts/icebreaker/assets/emoji-n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5687568"/>
            <a:ext cx="329184" cy="32918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160520" y="5532120"/>
            <a:ext cx="7391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"어느 기관이세요?" 3명에게 묻기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Ask 3 people their ministry · Pregunta su ministerio a 3 personas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2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</a:t>
            </a:r>
            <a:endParaRPr lang="en-US" sz="13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명씩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 group · por grupo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1" name="Image 0" descr="/Users/logosguru/Code/retreat2026/scripts/icebreaker/assets/emoji-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663440"/>
            <a:ext cx="777240" cy="777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43891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MC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48640" y="5303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티켓 수는 MC 발표 · tickets: MC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880" y="1188720"/>
            <a:ext cx="8031175" cy="816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74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세 언어, 세 세대</a:t>
            </a:r>
            <a:endParaRPr lang="en-US" sz="3740" dirty="0"/>
          </a:p>
        </p:txBody>
      </p:sp>
      <p:sp>
        <p:nvSpPr>
          <p:cNvPr id="16" name="Text 13"/>
          <p:cNvSpPr/>
          <p:nvPr/>
        </p:nvSpPr>
        <p:spPr>
          <a:xfrm>
            <a:off x="3611880" y="2043684"/>
            <a:ext cx="8031175" cy="544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2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Three Languages, Three Generations</a:t>
            </a:r>
            <a:endParaRPr lang="en-US" sz="2720" dirty="0"/>
          </a:p>
        </p:txBody>
      </p:sp>
      <p:sp>
        <p:nvSpPr>
          <p:cNvPr id="17" name="Text 14"/>
          <p:cNvSpPr/>
          <p:nvPr/>
        </p:nvSpPr>
        <p:spPr>
          <a:xfrm>
            <a:off x="3611880" y="2587752"/>
            <a:ext cx="8031175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8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Tres idiomas, tres generaciones</a:t>
            </a:r>
            <a:endParaRPr lang="en-US" sz="2380" dirty="0"/>
          </a:p>
        </p:txBody>
      </p:sp>
      <p:sp>
        <p:nvSpPr>
          <p:cNvPr id="18" name="Shape 15"/>
          <p:cNvSpPr/>
          <p:nvPr/>
        </p:nvSpPr>
        <p:spPr>
          <a:xfrm>
            <a:off x="3611880" y="331927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1188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251960" y="3246120"/>
            <a:ext cx="739109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· 영어 · 스페인어 사용자 각 1명 이상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Korean, English AND Spanish speakers   ·   Hablantes de coreano, inglés Y español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3611880" y="405079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1188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251960" y="3977640"/>
            <a:ext cx="739109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 1명 이상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 least ONE young adult   ·   Al menos UN joven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3611880" y="4782312"/>
            <a:ext cx="457200" cy="45720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11880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251960" y="4709160"/>
            <a:ext cx="739109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장로님 또는 권사님 1명 이상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 least ONE Elder or Kwonsa   ·   Al menos UN anciano o Kwonsa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3611880" y="5532120"/>
            <a:ext cx="8031175" cy="640080"/>
          </a:xfrm>
          <a:prstGeom prst="roundRect">
            <a:avLst>
              <a:gd name="adj" fmla="val 14286"/>
            </a:avLst>
          </a:prstGeom>
          <a:solidFill>
            <a:srgbClr val="0E241D"/>
          </a:solidFill>
          <a:ln w="9525">
            <a:solidFill>
              <a:srgbClr val="DCC07F">
                <a:alpha val="60000"/>
              </a:srgbClr>
            </a:solidFill>
            <a:prstDash val="solid"/>
          </a:ln>
        </p:spPr>
      </p:sp>
      <p:pic>
        <p:nvPicPr>
          <p:cNvPr id="28" name="Image 1" descr="/Users/logosguru/Code/retreat2026/scripts/icebreaker/assets/emoji-n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5687568"/>
            <a:ext cx="329184" cy="32918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160520" y="5532120"/>
            <a:ext cx="7391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이름 모르는 사람에게 이름 묻기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Learn a name you don’t know yet · Aprende un nombre que aún no sabes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11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FINAL · 결승 · FINAL</a:t>
            </a:r>
            <a:endParaRPr lang="en-US" sz="1800" dirty="0"/>
          </a:p>
        </p:txBody>
      </p:sp>
      <p:pic>
        <p:nvPicPr>
          <p:cNvPr id="8" name="Image 0" descr="/Users/logosguru/Code/retreat2026/scripts/icebreaker/assets/emoji-me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463040" cy="1463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1188720"/>
            <a:ext cx="9357055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이름을 아시나요?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2286000" y="2194560"/>
            <a:ext cx="93570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 You Know Their Names?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286000" y="2834640"/>
            <a:ext cx="935705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¿Sabes sus nombres?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286000" y="3520440"/>
            <a:ext cx="935705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세 그룹이 차례로 나옵니다. 한 사람씩 그룹 전원의 이름을 말합니다. 틀리면 — "That’s not a Blessed Encounter yet!" 가장 많이 맞힌 그룹이 우승!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final three groups come up one at a time. Each person names everyone in the group. Miss one — “That’s not a Blessed Encounter yet!” Most correct names wins!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Los tres grupos finales salen uno por uno. Cada persona dice el nombre de todos. Si falla — «That’s not a Blessed Encounter yet!» ¡Gana el grupo con más aciertos!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12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AWARDS · 시상 · PREMIOS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38248" y="1463040"/>
            <a:ext cx="7315200" cy="3657600"/>
          </a:xfrm>
          <a:prstGeom prst="roundRect">
            <a:avLst>
              <a:gd name="adj" fmla="val 3750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9" name="Image 0" descr="/Users/logosguru/Code/retreat2026/scripts/icebreaker/assets/emoji-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08" y="1737360"/>
            <a:ext cx="1097280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438248" y="2880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Gift Cards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2438248" y="3886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241D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우승 그룹 전원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Winning group · Grupo ganador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525780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우승 그룹에게 큰 박수!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big round of applause for the winners!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¡Un gran aplauso para los ganadores!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13 /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CLOSING · 마무리 · CIERRE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84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복된 만남</a:t>
            </a:r>
            <a:endParaRPr lang="en-US" sz="4840" dirty="0"/>
          </a:p>
        </p:txBody>
      </p:sp>
      <p:sp>
        <p:nvSpPr>
          <p:cNvPr id="9" name="Text 7"/>
          <p:cNvSpPr/>
          <p:nvPr/>
        </p:nvSpPr>
        <p:spPr>
          <a:xfrm>
            <a:off x="548640" y="2386584"/>
            <a:ext cx="11094415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52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</a:t>
            </a:r>
            <a:endParaRPr lang="en-US" sz="3520" dirty="0"/>
          </a:p>
        </p:txBody>
      </p:sp>
      <p:sp>
        <p:nvSpPr>
          <p:cNvPr id="10" name="Text 8"/>
          <p:cNvSpPr/>
          <p:nvPr/>
        </p:nvSpPr>
        <p:spPr>
          <a:xfrm>
            <a:off x="548640" y="3090672"/>
            <a:ext cx="11094415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8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Encuentro Bendito</a:t>
            </a:r>
            <a:endParaRPr lang="en-US" sz="308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C07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“거기서 내가 이스라엘 자손을 만나리니” — 출애굽기 29:43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처음 이름을 알게 된 분이 있지요? 남은 수련회 동안, 그분에게 먼저 다가가 인사해 주세요.</a:t>
            </a:r>
            <a:endParaRPr lang="en-US" sz="19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learned some new names tonight. For the rest of this retreat, go say hello to them first.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Esta noche aprendiste nombres nuevos. Durante el resto del retiro, ¡acércate tú primero a saludarlos!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Breaker — 2026 Evergreen Summer Retreat</dc:title>
  <dc:subject>PptxGenJS Presentation</dc:subject>
  <dc:creator>Evergreen Church</dc:creator>
  <cp:lastModifiedBy>Evergreen Church</cp:lastModifiedBy>
  <cp:revision>1</cp:revision>
  <dcterms:created xsi:type="dcterms:W3CDTF">2026-09-03T15:23:35Z</dcterms:created>
  <dcterms:modified xsi:type="dcterms:W3CDTF">2026-09-03T15:23:35Z</dcterms:modified>
</cp:coreProperties>
</file>